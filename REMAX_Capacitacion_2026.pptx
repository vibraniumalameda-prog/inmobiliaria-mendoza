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7004050" cy="92900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6262" autoAdjust="0"/>
  </p:normalViewPr>
  <p:slideViewPr>
    <p:cSldViewPr snapToGrid="0" snapToObjects="1">
      <p:cViewPr varScale="1">
        <p:scale>
          <a:sx n="72" d="100"/>
          <a:sy n="72" d="100"/>
        </p:scale>
        <p:origin x="13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4828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4278" tIns="52139" rIns="104278" bIns="52139"/>
          <a:lstStyle/>
          <a:p>
            <a:r>
              <a:rPr lang="es-MX" i="1" dirty="0"/>
              <a:t>"¿Cuántas operaciones cerraste este mes vs el mes anterior?"</a:t>
            </a:r>
            <a:endParaRPr lang="es-MX" dirty="0"/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2 horas. Sin teoría vacía.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Mendoza 2025: el mercado se movió. Los que no se movieron con él, lo están sintiendo.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Hoy trabajamos 3 problemas reales: captación, cierre y adaptación.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4278" tIns="52139" rIns="104278" bIns="52139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4278" tIns="52139" rIns="104278" bIns="52139"/>
          <a:lstStyle/>
          <a:p>
            <a:r>
              <a:rPr lang="es-MX" b="1" dirty="0"/>
              <a:t>Título:</a:t>
            </a:r>
            <a:r>
              <a:rPr lang="es-MX" dirty="0"/>
              <a:t> El problema no es el mercado. </a:t>
            </a:r>
            <a:r>
              <a:rPr lang="es-MX" dirty="0" err="1"/>
              <a:t>Sos</a:t>
            </a:r>
            <a:r>
              <a:rPr lang="es-MX" dirty="0"/>
              <a:t> vos.</a:t>
            </a:r>
          </a:p>
          <a:p>
            <a:r>
              <a:rPr lang="es-MX" b="1" dirty="0"/>
              <a:t>Cuerpo:</a:t>
            </a:r>
            <a:endParaRPr lang="es-MX" dirty="0"/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Promedio industria: 1 cierre cada 8–12 contactos activos. ¿Cuál es el tuyo?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El pipeline roto tiene 3 puntos de fuga: captación débil → seguimiento irregular → cierre que no llega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Trabajar reactivo = esperar que el cliente te llame. Trabajar con sistema = vos </a:t>
            </a:r>
            <a:r>
              <a:rPr lang="es-MX" dirty="0" err="1"/>
              <a:t>controlás</a:t>
            </a:r>
            <a:r>
              <a:rPr lang="es-MX" dirty="0"/>
              <a:t> el ritmo.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[DATO DE LA OFICINA — completar antes del taller]</a:t>
            </a:r>
            <a:endParaRPr lang="es-MX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4278" tIns="52139" rIns="104278" bIns="52139"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4278" tIns="52139" rIns="104278" bIns="52139"/>
          <a:lstStyle/>
          <a:p>
            <a:r>
              <a:rPr lang="es-MX" b="1" dirty="0"/>
              <a:t>🌍 </a:t>
            </a:r>
            <a:r>
              <a:rPr lang="es-MX" b="1" dirty="0" err="1"/>
              <a:t>Slide</a:t>
            </a:r>
            <a:r>
              <a:rPr lang="es-MX" b="1" dirty="0"/>
              <a:t> 3 — El mercado cambió: ¿Vos también?</a:t>
            </a:r>
          </a:p>
          <a:p>
            <a:r>
              <a:rPr lang="es-MX" b="1" dirty="0"/>
              <a:t>Título:</a:t>
            </a:r>
            <a:r>
              <a:rPr lang="es-MX" dirty="0"/>
              <a:t> Lo que funcionaba en 2022 hoy te juega en contra</a:t>
            </a:r>
          </a:p>
          <a:p>
            <a:r>
              <a:rPr lang="es-MX" b="1" dirty="0"/>
              <a:t>Cuerpo:</a:t>
            </a:r>
            <a:endParaRPr lang="es-MX" dirty="0"/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El comprador 2025 busca en portales antes de llamarte. Ya llegó con precio de referencia.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Negocia más, decide más rápido y compara en tiempo real.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El agente que sigue con el mismo discurso de siempre cierra menos y trabaja más.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Los que más cierran hoy hacen 3 cosas distintas: </a:t>
            </a:r>
            <a:r>
              <a:rPr lang="es-MX" b="1" dirty="0"/>
              <a:t>especialización de zona, presencia digital activa y seguimiento sistematizado.</a:t>
            </a:r>
            <a:endParaRPr lang="es-MX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4278" tIns="52139" rIns="104278" bIns="52139"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4278" tIns="52139" rIns="104278" bIns="52139"/>
          <a:lstStyle/>
          <a:p>
            <a:r>
              <a:rPr lang="es-MX" b="1" dirty="0"/>
              <a:t>🏠 </a:t>
            </a:r>
            <a:r>
              <a:rPr lang="es-MX" b="1" dirty="0" err="1"/>
              <a:t>Slide</a:t>
            </a:r>
            <a:r>
              <a:rPr lang="es-MX" b="1" dirty="0"/>
              <a:t> 4 — Captación: Calidad antes que cantidad</a:t>
            </a:r>
          </a:p>
          <a:p>
            <a:r>
              <a:rPr lang="es-MX" b="1" dirty="0"/>
              <a:t>Título:</a:t>
            </a:r>
            <a:r>
              <a:rPr lang="es-MX" dirty="0"/>
              <a:t> No toda propiedad merece tu tiempo</a:t>
            </a:r>
          </a:p>
          <a:p>
            <a:r>
              <a:rPr lang="es-MX" b="1" dirty="0"/>
              <a:t>Cuerpo:</a:t>
            </a:r>
            <a:endParaRPr lang="es-MX" dirty="0"/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El filtro de captación en 3 preguntas: </a:t>
            </a:r>
          </a:p>
          <a:p>
            <a:pPr marL="847260" lvl="1" indent="-325869">
              <a:buFont typeface="Arial" panose="020B0604020202020204" pitchFamily="34" charset="0"/>
              <a:buChar char="•"/>
            </a:pPr>
            <a:r>
              <a:rPr lang="es-MX" dirty="0"/>
              <a:t>¿El precio es de mercado o el propietario "quiere ver"?</a:t>
            </a:r>
          </a:p>
          <a:p>
            <a:pPr marL="847260" lvl="1" indent="-325869">
              <a:buFont typeface="Arial" panose="020B0604020202020204" pitchFamily="34" charset="0"/>
              <a:buChar char="•"/>
            </a:pPr>
            <a:r>
              <a:rPr lang="es-MX" dirty="0"/>
              <a:t>¿Tengo compradores activos para esta tipología?</a:t>
            </a:r>
          </a:p>
          <a:p>
            <a:pPr marL="847260" lvl="1" indent="-325869">
              <a:buFont typeface="Arial" panose="020B0604020202020204" pitchFamily="34" charset="0"/>
              <a:buChar char="•"/>
            </a:pPr>
            <a:r>
              <a:rPr lang="es-MX" dirty="0"/>
              <a:t>¿El propietario está dispuesto a trabajar con exclusividad?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Captar mal = trabajar gratis durante 90 días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Cómo fijar precio sin perder al propietario: el método del comparable frío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Aprender a decir que no es la habilidad más rentable de un agente.</a:t>
            </a:r>
            <a:endParaRPr lang="es-MX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4278" tIns="52139" rIns="104278" bIns="52139"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4278" tIns="52139" rIns="104278" bIns="52139"/>
          <a:lstStyle/>
          <a:p>
            <a:r>
              <a:rPr lang="es-MX" b="1" dirty="0"/>
              <a:t>📲 </a:t>
            </a:r>
            <a:r>
              <a:rPr lang="es-MX" b="1" dirty="0" err="1"/>
              <a:t>Slide</a:t>
            </a:r>
            <a:r>
              <a:rPr lang="es-MX" b="1" dirty="0"/>
              <a:t> 5 — Seguimiento: El arte de no desaparecer</a:t>
            </a:r>
          </a:p>
          <a:p>
            <a:r>
              <a:rPr lang="es-MX" b="1" dirty="0"/>
              <a:t>Título:</a:t>
            </a:r>
            <a:r>
              <a:rPr lang="es-MX" dirty="0"/>
              <a:t> El cliente no compró. ¿Lo seguiste o lo perdiste?</a:t>
            </a:r>
          </a:p>
          <a:p>
            <a:r>
              <a:rPr lang="es-MX" b="1" dirty="0"/>
              <a:t>Cuerpo:</a:t>
            </a:r>
            <a:endParaRPr lang="es-MX" dirty="0"/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Temperatura del cliente: 🔴 Frío (no contesta) · 🟡 Tibio (responde pero no avanza) · 🟢 Caliente (pregunta, compara, pide visita)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Frecuencia por canal: </a:t>
            </a:r>
          </a:p>
          <a:p>
            <a:pPr marL="847260" lvl="1" indent="-325869">
              <a:buFont typeface="Arial" panose="020B0604020202020204" pitchFamily="34" charset="0"/>
              <a:buChar char="•"/>
            </a:pPr>
            <a:r>
              <a:rPr lang="es-MX" dirty="0"/>
              <a:t>WhatsApp: cada 5–7 días con valor real (no "¿cómo </a:t>
            </a:r>
            <a:r>
              <a:rPr lang="es-MX" dirty="0" err="1"/>
              <a:t>andás</a:t>
            </a:r>
            <a:r>
              <a:rPr lang="es-MX" dirty="0"/>
              <a:t>?")</a:t>
            </a:r>
          </a:p>
          <a:p>
            <a:pPr marL="847260" lvl="1" indent="-325869">
              <a:buFont typeface="Arial" panose="020B0604020202020204" pitchFamily="34" charset="0"/>
              <a:buChar char="•"/>
            </a:pPr>
            <a:r>
              <a:rPr lang="es-MX" dirty="0"/>
              <a:t>Llamada: cada 15 días si no hubo respuesta al mensaje</a:t>
            </a:r>
          </a:p>
          <a:p>
            <a:pPr marL="847260" lvl="1" indent="-325869">
              <a:buFont typeface="Arial" panose="020B0604020202020204" pitchFamily="34" charset="0"/>
              <a:buChar char="•"/>
            </a:pPr>
            <a:r>
              <a:rPr lang="es-MX" dirty="0"/>
              <a:t>Mail: para envío de fichas y comparables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El CRM mínimo viable: Nombre · Tipología · Presupuesto · Última interacción · Próximo contacto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Un cliente tibio bien seguido cierra. Uno abandonado le compra a tu competencia.</a:t>
            </a:r>
            <a:endParaRPr lang="es-MX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4278" tIns="52139" rIns="104278" bIns="52139"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4278" tIns="52139" rIns="104278" bIns="52139"/>
          <a:lstStyle/>
          <a:p>
            <a:r>
              <a:rPr lang="es-MX" b="1" dirty="0"/>
              <a:t>🎯 </a:t>
            </a:r>
            <a:r>
              <a:rPr lang="es-MX" b="1" dirty="0" err="1"/>
              <a:t>Slide</a:t>
            </a:r>
            <a:r>
              <a:rPr lang="es-MX" b="1" dirty="0"/>
              <a:t> 6 — Los 5 cierres que funcionan</a:t>
            </a:r>
          </a:p>
          <a:p>
            <a:r>
              <a:rPr lang="es-MX" b="1" dirty="0"/>
              <a:t>Título:</a:t>
            </a:r>
            <a:r>
              <a:rPr lang="es-MX" dirty="0"/>
              <a:t> Técnicas de Cierre — Los 5 movimientos</a:t>
            </a:r>
          </a:p>
          <a:p>
            <a:r>
              <a:rPr lang="es-MX" b="1" dirty="0"/>
              <a:t>Cuerpo:</a:t>
            </a:r>
            <a:endParaRPr lang="es-MX" dirty="0"/>
          </a:p>
          <a:p>
            <a:pPr>
              <a:buFont typeface="+mj-lt"/>
              <a:buAutoNum type="arabicPeriod"/>
            </a:pPr>
            <a:r>
              <a:rPr lang="es-MX" b="1" dirty="0"/>
              <a:t>Cierre por alternativa</a:t>
            </a:r>
            <a:r>
              <a:rPr lang="es-MX" dirty="0"/>
              <a:t> → "¿Preferís escriturar en marzo o en abril?" — nunca preguntes si quieren comprar.</a:t>
            </a:r>
          </a:p>
          <a:p>
            <a:pPr>
              <a:buFont typeface="+mj-lt"/>
              <a:buAutoNum type="arabicPeriod"/>
            </a:pPr>
            <a:r>
              <a:rPr lang="es-MX" b="1" dirty="0"/>
              <a:t>Cierre por urgencia real</a:t>
            </a:r>
            <a:r>
              <a:rPr lang="es-MX" dirty="0"/>
              <a:t> → "Hay otra persona que visitó ayer y está evaluando." Sin mentir, con datos reales.</a:t>
            </a:r>
          </a:p>
          <a:p>
            <a:pPr>
              <a:buFont typeface="+mj-lt"/>
              <a:buAutoNum type="arabicPeriod"/>
            </a:pPr>
            <a:r>
              <a:rPr lang="es-MX" b="1" dirty="0"/>
              <a:t>Cierre por resumen</a:t>
            </a:r>
            <a:r>
              <a:rPr lang="es-MX" dirty="0"/>
              <a:t> → </a:t>
            </a:r>
            <a:r>
              <a:rPr lang="es-MX" dirty="0" err="1"/>
              <a:t>Recapitulá</a:t>
            </a:r>
            <a:r>
              <a:rPr lang="es-MX" dirty="0"/>
              <a:t> los 3 beneficios principales y </a:t>
            </a:r>
            <a:r>
              <a:rPr lang="es-MX" dirty="0" err="1"/>
              <a:t>cerrá</a:t>
            </a:r>
            <a:r>
              <a:rPr lang="es-MX" dirty="0"/>
              <a:t> la boca. Quien habla primero, pierde.</a:t>
            </a:r>
          </a:p>
          <a:p>
            <a:pPr>
              <a:buFont typeface="+mj-lt"/>
              <a:buAutoNum type="arabicPeriod"/>
            </a:pPr>
            <a:r>
              <a:rPr lang="es-MX" b="1" dirty="0"/>
              <a:t>Cierre por prueba social</a:t>
            </a:r>
            <a:r>
              <a:rPr lang="es-MX" dirty="0"/>
              <a:t> → "Una familia en situación similar tomó la decisión la semana pasada."</a:t>
            </a:r>
          </a:p>
          <a:p>
            <a:pPr>
              <a:buFont typeface="+mj-lt"/>
              <a:buAutoNum type="arabicPeriod"/>
            </a:pPr>
            <a:r>
              <a:rPr lang="es-MX" b="1" dirty="0"/>
              <a:t>Cierre de silencio</a:t>
            </a:r>
            <a:r>
              <a:rPr lang="es-MX" dirty="0"/>
              <a:t> → </a:t>
            </a:r>
            <a:r>
              <a:rPr lang="es-MX" dirty="0" err="1"/>
              <a:t>Hacé</a:t>
            </a:r>
            <a:r>
              <a:rPr lang="es-MX" dirty="0"/>
              <a:t> la pregunta de cierre y no agregues nada. El silencio es tu aliado.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4278" tIns="52139" rIns="104278" bIns="52139"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4278" tIns="52139" rIns="104278" bIns="52139"/>
          <a:lstStyle/>
          <a:p>
            <a:r>
              <a:rPr lang="es-MX" b="1" dirty="0"/>
              <a:t>🤝 </a:t>
            </a:r>
            <a:r>
              <a:rPr lang="es-MX" b="1" dirty="0" err="1"/>
              <a:t>Slide</a:t>
            </a:r>
            <a:r>
              <a:rPr lang="es-MX" b="1" dirty="0"/>
              <a:t> 7 — Negociación: Ceder menos, cerrar más</a:t>
            </a:r>
          </a:p>
          <a:p>
            <a:r>
              <a:rPr lang="es-MX" b="1" dirty="0"/>
              <a:t>Título:</a:t>
            </a:r>
            <a:r>
              <a:rPr lang="es-MX" dirty="0"/>
              <a:t> El error más caro: ceder antes de que te lo pidan</a:t>
            </a:r>
          </a:p>
          <a:p>
            <a:r>
              <a:rPr lang="es-MX" b="1" dirty="0"/>
              <a:t>Cuerpo:</a:t>
            </a:r>
            <a:endParaRPr lang="es-MX" dirty="0"/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Anclar el precio:</a:t>
            </a:r>
            <a:r>
              <a:rPr lang="es-MX" dirty="0"/>
              <a:t> la primera cifra que se dice gana. Nunca seas el primero en bajar.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Objeción "está caro" → "¿Caro comparado con qué?" — pedí la referencia antes de justificar.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Objeción "lo pienso" → "¿Qué es lo que te genera duda?" — </a:t>
            </a:r>
            <a:r>
              <a:rPr lang="es-MX" dirty="0" err="1"/>
              <a:t>identificá</a:t>
            </a:r>
            <a:r>
              <a:rPr lang="es-MX" dirty="0"/>
              <a:t> el freno real.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Objeción "tengo otra oferta" → "</a:t>
            </a:r>
            <a:r>
              <a:rPr lang="es-MX" dirty="0" err="1"/>
              <a:t>Contame</a:t>
            </a:r>
            <a:r>
              <a:rPr lang="es-MX" dirty="0"/>
              <a:t> más, quiero entender qué están comparando."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Role-</a:t>
            </a:r>
            <a:r>
              <a:rPr lang="es-MX" b="1" dirty="0" err="1"/>
              <a:t>play</a:t>
            </a:r>
            <a:r>
              <a:rPr lang="es-MX" b="1" dirty="0"/>
              <a:t>:</a:t>
            </a:r>
            <a:r>
              <a:rPr lang="es-MX" dirty="0"/>
              <a:t> Simulación de negociación con objeción real del grupo. (5 minutos)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4278" tIns="52139" rIns="104278" bIns="52139"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4278" tIns="52139" rIns="104278" bIns="52139"/>
          <a:lstStyle/>
          <a:p>
            <a:r>
              <a:rPr lang="es-MX" b="1" dirty="0"/>
              <a:t>🌟 </a:t>
            </a:r>
            <a:r>
              <a:rPr lang="es-MX" b="1" dirty="0" err="1"/>
              <a:t>Slide</a:t>
            </a:r>
            <a:r>
              <a:rPr lang="es-MX" b="1" dirty="0"/>
              <a:t> 8 — Marca Personal: Por qué todos hacen lo mismo</a:t>
            </a:r>
          </a:p>
          <a:p>
            <a:r>
              <a:rPr lang="es-MX" b="1" dirty="0"/>
              <a:t>Título:</a:t>
            </a:r>
            <a:r>
              <a:rPr lang="es-MX" dirty="0"/>
              <a:t> El agente invisible vs el agente referente</a:t>
            </a:r>
          </a:p>
          <a:p>
            <a:r>
              <a:rPr lang="es-MX" b="1" dirty="0"/>
              <a:t>Cuerpo:</a:t>
            </a:r>
            <a:endParaRPr lang="es-MX" dirty="0"/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Si alguien busca tu nombre en Google, ¿qué encuentra?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Posicionamiento digital en 3 movimientos:</a:t>
            </a:r>
            <a:r>
              <a:rPr lang="es-MX" dirty="0"/>
              <a:t> </a:t>
            </a:r>
          </a:p>
          <a:p>
            <a:pPr marL="847260" lvl="1" indent="-325869">
              <a:buFont typeface="Arial" panose="020B0604020202020204" pitchFamily="34" charset="0"/>
              <a:buChar char="•"/>
            </a:pPr>
            <a:r>
              <a:rPr lang="es-MX" dirty="0"/>
              <a:t>1 post semanal con contenido de valor de tu zona (precio por m², novedades del barrio, comparables)</a:t>
            </a:r>
          </a:p>
          <a:p>
            <a:pPr marL="847260" lvl="1" indent="-325869">
              <a:buFont typeface="Arial" panose="020B0604020202020204" pitchFamily="34" charset="0"/>
              <a:buChar char="•"/>
            </a:pPr>
            <a:r>
              <a:rPr lang="es-MX" dirty="0" err="1"/>
              <a:t>Stories</a:t>
            </a:r>
            <a:r>
              <a:rPr lang="es-MX" dirty="0"/>
              <a:t> de proceso: mostrar una visita, una tasación, un cierre real</a:t>
            </a:r>
          </a:p>
          <a:p>
            <a:pPr marL="847260" lvl="1" indent="-325869">
              <a:buFont typeface="Arial" panose="020B0604020202020204" pitchFamily="34" charset="0"/>
              <a:buChar char="•"/>
            </a:pPr>
            <a:r>
              <a:rPr lang="es-MX" dirty="0"/>
              <a:t>WhatsApp estratégico: lista de difusión segmentada por tipología e interés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Construir autoridad local: </a:t>
            </a:r>
            <a:r>
              <a:rPr lang="es-MX" b="1" dirty="0"/>
              <a:t>tu barrio es tu territorio.</a:t>
            </a:r>
            <a:r>
              <a:rPr lang="es-MX" dirty="0"/>
              <a:t> </a:t>
            </a:r>
            <a:r>
              <a:rPr lang="es-MX" dirty="0" err="1"/>
              <a:t>Conocelo</a:t>
            </a:r>
            <a:r>
              <a:rPr lang="es-MX" dirty="0"/>
              <a:t> mejor que nadie.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El agente referente no busca clientes. Los clientes lo buscan a él.</a:t>
            </a:r>
            <a:endParaRPr lang="es-MX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4278" tIns="52139" rIns="104278" bIns="52139"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4278" tIns="52139" rIns="104278" bIns="52139"/>
          <a:lstStyle/>
          <a:p>
            <a:r>
              <a:rPr lang="es-MX" b="1" dirty="0"/>
              <a:t>✅ </a:t>
            </a:r>
            <a:r>
              <a:rPr lang="es-MX" b="1" dirty="0" err="1"/>
              <a:t>Slide</a:t>
            </a:r>
            <a:r>
              <a:rPr lang="es-MX" b="1" dirty="0"/>
              <a:t> 9 — Plan de acción: Lo que </a:t>
            </a:r>
            <a:r>
              <a:rPr lang="es-MX" b="1" dirty="0" err="1"/>
              <a:t>hacés</a:t>
            </a:r>
            <a:r>
              <a:rPr lang="es-MX" b="1" dirty="0"/>
              <a:t> mañana a las 9am</a:t>
            </a:r>
          </a:p>
          <a:p>
            <a:r>
              <a:rPr lang="es-MX" b="1" dirty="0"/>
              <a:t>Título:</a:t>
            </a:r>
            <a:r>
              <a:rPr lang="es-MX" dirty="0"/>
              <a:t> Compromisos concretos — no intenciones</a:t>
            </a:r>
          </a:p>
          <a:p>
            <a:r>
              <a:rPr lang="es-MX" b="1" dirty="0"/>
              <a:t>Cuerpo:</a:t>
            </a:r>
            <a:endParaRPr lang="es-MX" dirty="0"/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Cada agente completa en vivo: </a:t>
            </a:r>
          </a:p>
          <a:p>
            <a:pPr marL="847260" lvl="1" indent="-325869">
              <a:buFont typeface="Arial" panose="020B0604020202020204" pitchFamily="34" charset="0"/>
              <a:buChar char="•"/>
            </a:pPr>
            <a:r>
              <a:rPr lang="es-MX" b="1" dirty="0"/>
              <a:t>Acción 1:</a:t>
            </a:r>
            <a:r>
              <a:rPr lang="es-MX" dirty="0"/>
              <a:t> </a:t>
            </a:r>
            <a:r>
              <a:rPr lang="es-MX" i="1" dirty="0"/>
              <a:t>(algo que </a:t>
            </a:r>
            <a:r>
              <a:rPr lang="es-MX" i="1" dirty="0" err="1"/>
              <a:t>arrancás</a:t>
            </a:r>
            <a:r>
              <a:rPr lang="es-MX" i="1" dirty="0"/>
              <a:t> esta semana)</a:t>
            </a:r>
            <a:endParaRPr lang="es-MX" dirty="0"/>
          </a:p>
          <a:p>
            <a:pPr marL="847260" lvl="1" indent="-325869">
              <a:buFont typeface="Arial" panose="020B0604020202020204" pitchFamily="34" charset="0"/>
              <a:buChar char="•"/>
            </a:pPr>
            <a:r>
              <a:rPr lang="es-MX" b="1" dirty="0"/>
              <a:t>Acción 2:</a:t>
            </a:r>
            <a:r>
              <a:rPr lang="es-MX" dirty="0"/>
              <a:t> </a:t>
            </a:r>
            <a:r>
              <a:rPr lang="es-MX" i="1" dirty="0"/>
              <a:t>(algo que </a:t>
            </a:r>
            <a:r>
              <a:rPr lang="es-MX" i="1" dirty="0" err="1"/>
              <a:t>dejás</a:t>
            </a:r>
            <a:r>
              <a:rPr lang="es-MX" i="1" dirty="0"/>
              <a:t> de hacer)</a:t>
            </a:r>
            <a:endParaRPr lang="es-MX" dirty="0"/>
          </a:p>
          <a:p>
            <a:pPr marL="847260" lvl="1" indent="-325869">
              <a:buFont typeface="Arial" panose="020B0604020202020204" pitchFamily="34" charset="0"/>
              <a:buChar char="•"/>
            </a:pPr>
            <a:r>
              <a:rPr lang="es-MX" b="1" dirty="0"/>
              <a:t>Acción 3:</a:t>
            </a:r>
            <a:r>
              <a:rPr lang="es-MX" dirty="0"/>
              <a:t> </a:t>
            </a:r>
            <a:r>
              <a:rPr lang="es-MX" i="1" dirty="0"/>
              <a:t>(alguien a quien </a:t>
            </a:r>
            <a:r>
              <a:rPr lang="es-MX" i="1" dirty="0" err="1"/>
              <a:t>llamás</a:t>
            </a:r>
            <a:r>
              <a:rPr lang="es-MX" i="1" dirty="0"/>
              <a:t> mañana antes de las 10am)</a:t>
            </a:r>
            <a:endParaRPr lang="es-MX" dirty="0"/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Próximo </a:t>
            </a:r>
            <a:r>
              <a:rPr lang="es-MX" dirty="0" err="1"/>
              <a:t>checkpoint</a:t>
            </a:r>
            <a:r>
              <a:rPr lang="es-MX" dirty="0"/>
              <a:t>: </a:t>
            </a:r>
            <a:r>
              <a:rPr lang="es-MX" b="1" dirty="0"/>
              <a:t>[fecha — definir con el grupo]</a:t>
            </a:r>
            <a:endParaRPr lang="es-MX" dirty="0"/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El grupo es tu red de </a:t>
            </a:r>
            <a:r>
              <a:rPr lang="es-MX" dirty="0" err="1"/>
              <a:t>accountability</a:t>
            </a:r>
            <a:r>
              <a:rPr lang="es-MX" dirty="0"/>
              <a:t>. Los compromisos públicos se cumplen más.</a:t>
            </a:r>
          </a:p>
          <a:p>
            <a:r>
              <a:rPr lang="es-MX" i="1" dirty="0"/>
              <a:t>"El mercado premia a quien actúa. No a quien sabe."</a:t>
            </a:r>
            <a:endParaRPr lang="es-MX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4278" tIns="52139" rIns="104278" bIns="52139"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500" dirty="0">
                <a:solidFill>
                  <a:srgbClr val="990011"/>
                </a:solidFill>
              </a:rPr>
              <a:t>RE/MAX MENDOZA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47472" y="731520"/>
            <a:ext cx="5669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FFFFFF"/>
                </a:solidFill>
              </a:rPr>
              <a:t>El mercado</a:t>
            </a:r>
            <a:endParaRPr lang="en-US" sz="5600" dirty="0"/>
          </a:p>
          <a:p>
            <a:pPr marL="0" indent="0" algn="l">
              <a:buNone/>
            </a:pPr>
            <a:r>
              <a:rPr lang="en-US" sz="5600" b="1" dirty="0">
                <a:solidFill>
                  <a:srgbClr val="FFFFFF"/>
                </a:solidFill>
              </a:rPr>
              <a:t>no espera.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63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</a:rPr>
              <a:t>Taller de Gestión Comercial  ·  2026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7472" y="3611880"/>
            <a:ext cx="8449056" cy="118872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36576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FFFFFF"/>
                </a:solidFill>
              </a:rPr>
              <a:t>¿Cuántas operaciones cerraste </a:t>
            </a:r>
            <a:r>
              <a:rPr lang="en-US" sz="2200" b="1" dirty="0">
                <a:solidFill>
                  <a:srgbClr val="C9A84C"/>
                </a:solidFill>
              </a:rPr>
              <a:t>este mes</a:t>
            </a:r>
            <a:r>
              <a:rPr lang="en-US" sz="2200" dirty="0">
                <a:solidFill>
                  <a:srgbClr val="FFFFFF"/>
                </a:solidFill>
              </a:rPr>
              <a:t> vs el anterior?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256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00" dirty="0">
                <a:solidFill>
                  <a:srgbClr val="990011"/>
                </a:solidFill>
              </a:rPr>
              <a:t>DIAGNÓSTICO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92608" y="5486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C2B4A"/>
                </a:solidFill>
              </a:rPr>
              <a:t>El problema no es el mercado.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92608" y="1325880"/>
            <a:ext cx="4023360" cy="338328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5087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990011"/>
                </a:solidFill>
              </a:rPr>
              <a:t>1 cierre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75488" y="2194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</a:rPr>
              <a:t>cada 8–12 contactos activos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" y="2697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C9A84C"/>
                </a:solidFill>
              </a:rPr>
              <a:t>¿Cuál es el tuyo?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" y="3200400"/>
            <a:ext cx="3474720" cy="118872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32735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9A84C"/>
                </a:solidFill>
              </a:rPr>
              <a:t>DATO DE TU OFICINA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3520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Completar antes del taller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37307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_________________________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0" y="132588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90011"/>
                </a:solidFill>
              </a:rPr>
              <a:t>01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212080" y="141732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B4A"/>
                </a:solidFill>
              </a:rPr>
              <a:t>Captación débil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12080" y="17373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Propiedades difíciles, precios fuera de mercado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2441448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90011"/>
                </a:solidFill>
              </a:rPr>
              <a:t>02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212080" y="253288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B4A"/>
                </a:solidFill>
              </a:rPr>
              <a:t>Seguimiento irregular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12080" y="285292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El cliente desaparece porque el agente desapareció primero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3557016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3648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90011"/>
                </a:solidFill>
              </a:rPr>
              <a:t>03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212080" y="364845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B4A"/>
                </a:solidFill>
              </a:rPr>
              <a:t>Cierre que no llega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12080" y="396849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Muchas conversaciones, pocas decisiones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0" y="46634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2F3C7E"/>
                </a:solidFill>
              </a:rPr>
              <a:t>Trabajar reactivo = esperar que el cliente llame.</a:t>
            </a:r>
            <a:endParaRPr lang="en-US" sz="1000" dirty="0"/>
          </a:p>
          <a:p>
            <a:pPr marL="0" indent="0" algn="l">
              <a:buNone/>
            </a:pPr>
            <a:r>
              <a:rPr lang="en-US" sz="1000" i="1" dirty="0">
                <a:solidFill>
                  <a:srgbClr val="2F3C7E"/>
                </a:solidFill>
              </a:rPr>
              <a:t>Trabajar con sistema = vos controlás el ritmo.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256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00" dirty="0">
                <a:solidFill>
                  <a:srgbClr val="990011"/>
                </a:solidFill>
              </a:rPr>
              <a:t>CONTEXTO 2025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92608" y="50292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Lo que funcionaba </a:t>
            </a:r>
            <a:r>
              <a:rPr lang="en-US" sz="3600" b="1" dirty="0" err="1">
                <a:solidFill>
                  <a:srgbClr val="FFFFFF"/>
                </a:solidFill>
              </a:rPr>
              <a:t>en</a:t>
            </a:r>
            <a:r>
              <a:rPr lang="en-US" sz="3600" b="1" dirty="0">
                <a:solidFill>
                  <a:srgbClr val="FFFFFF"/>
                </a:solidFill>
              </a:rPr>
              <a:t> 2025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hoy te juega en contra.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92608" y="1920240"/>
            <a:ext cx="2743200" cy="2834640"/>
          </a:xfrm>
          <a:prstGeom prst="rect">
            <a:avLst/>
          </a:prstGeom>
          <a:solidFill>
            <a:srgbClr val="1A2640"/>
          </a:solidFill>
          <a:ln w="12700">
            <a:solidFill>
              <a:srgbClr val="2A3A5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0574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29768" y="25420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El comprador llegó informado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29768" y="3090672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Buscó en portales, tiene precio de referencia y compara en tiempo real antes de llamarte.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0400" y="1920240"/>
            <a:ext cx="2743200" cy="2834640"/>
          </a:xfrm>
          <a:prstGeom prst="rect">
            <a:avLst/>
          </a:prstGeom>
          <a:solidFill>
            <a:srgbClr val="1A2640"/>
          </a:solidFill>
          <a:ln w="12700">
            <a:solidFill>
              <a:srgbClr val="2A3A58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205740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37560" y="25420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Negocia más, decide más rápido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337560" y="3090672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El ciclo de decisión se acortó. Si no cerrás en 2–3 visitas, alguien más lo hace.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108192" y="1920240"/>
            <a:ext cx="2743200" cy="2834640"/>
          </a:xfrm>
          <a:prstGeom prst="rect">
            <a:avLst/>
          </a:prstGeom>
          <a:solidFill>
            <a:srgbClr val="1A2640"/>
          </a:solidFill>
          <a:ln w="12700">
            <a:solidFill>
              <a:srgbClr val="2A3A58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205740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45352" y="25420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Los que más cierran hacen 3 cosas distintas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245352" y="3090672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Especialización de zona · Presencia digital activa · Seguimiento sistematizado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292608" y="47731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C9A84C"/>
                </a:solidFill>
              </a:rPr>
              <a:t>El agente que sigue con el mismo discurso de siempre cierra menos y trabaja más.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256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00" dirty="0">
                <a:solidFill>
                  <a:srgbClr val="990011"/>
                </a:solidFill>
              </a:rPr>
              <a:t>CAPTACIÓN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92608" y="5486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C2B4A"/>
                </a:solidFill>
              </a:rPr>
              <a:t>No toda propiedad merece tu tiempo.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92608" y="12618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990011"/>
                </a:solidFill>
              </a:rPr>
              <a:t>EL FILTRO EN 3 PREGUNTAS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92608" y="1554480"/>
            <a:ext cx="502920" cy="59436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55448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68680" y="1554480"/>
            <a:ext cx="3840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6002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B4A"/>
                </a:solidFill>
              </a:rPr>
              <a:t>¿El precio es de mercado o el propietario 'quiere ver'?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2608" y="2359152"/>
            <a:ext cx="502920" cy="59436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2359152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68680" y="2359152"/>
            <a:ext cx="3840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40487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B4A"/>
                </a:solidFill>
              </a:rPr>
              <a:t>¿Tengo compradores activos para esta tipología HOY?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92608" y="3163824"/>
            <a:ext cx="502920" cy="59436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" y="3163824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68680" y="3163824"/>
            <a:ext cx="3840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20954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B4A"/>
                </a:solidFill>
              </a:rPr>
              <a:t>¿El propietario acepta trabajar con exclusividad?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120640" y="1261872"/>
            <a:ext cx="3657600" cy="306324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14173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Captar mal =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03520" y="18288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990011"/>
                </a:solidFill>
              </a:rPr>
              <a:t>trabajar gratis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990011"/>
                </a:solidFill>
              </a:rPr>
              <a:t>durante 90 días.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303520" y="288036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El método del comparable frío: mostrá 3 operaciones reales de la zona cerradas en los últimos 90 días. Los números convencen donde los argumentos fallan.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92608" y="4590288"/>
            <a:ext cx="8485632" cy="41148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461772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i="1" dirty="0">
                <a:solidFill>
                  <a:srgbClr val="FFFFFF"/>
                </a:solidFill>
              </a:rPr>
              <a:t>Aprender a decir que no es la habilidad más rentable de un agente inmobiliario.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256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00" dirty="0">
                <a:solidFill>
                  <a:srgbClr val="990011"/>
                </a:solidFill>
              </a:rPr>
              <a:t>SEGUIMIENTO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92608" y="50292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2B4A"/>
                </a:solidFill>
              </a:rPr>
              <a:t>El cliente no compró.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1C2B4A"/>
                </a:solidFill>
              </a:rPr>
              <a:t>¿Lo seguiste o lo perdiste?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92608" y="1664208"/>
            <a:ext cx="2743200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16642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FRÍO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92608" y="2075688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214884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B4A"/>
                </a:solidFill>
              </a:rPr>
              <a:t>No contesta · Espaciar contacto · Cambiar canal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664208"/>
            <a:ext cx="274320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6642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TIBIO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0" y="2075688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214884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B4A"/>
                </a:solidFill>
              </a:rPr>
              <a:t>Responde pero no avanza · Aportá valor en cada mensaje · Identificá el freno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08192" y="1664208"/>
            <a:ext cx="274320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08192" y="16642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CALIENTE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08192" y="2075688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45352" y="214884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B4A"/>
                </a:solidFill>
              </a:rPr>
              <a:t>Pregunta · Compara · Pide visita · ACTUÁ HOY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2608" y="34564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990011"/>
                </a:solidFill>
              </a:rPr>
              <a:t>FRECUENCIA POR CANAL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92608" y="3749040"/>
            <a:ext cx="2743200" cy="987552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3794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90011"/>
                </a:solidFill>
              </a:rPr>
              <a:t>WhatsApp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9768" y="4069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9A84C"/>
                </a:solidFill>
              </a:rPr>
              <a:t>c/5–7 días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29768" y="43708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</a:rPr>
              <a:t>Con valor real. No '¿cómo andás?'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0" y="3749040"/>
            <a:ext cx="2743200" cy="987552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3794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90011"/>
                </a:solidFill>
              </a:rPr>
              <a:t>Llamada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4069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9A84C"/>
                </a:solidFill>
              </a:rPr>
              <a:t>c/15 días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337560" y="43708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</a:rPr>
              <a:t>Si no hubo respuesta al mensaje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08192" y="3749040"/>
            <a:ext cx="2743200" cy="987552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5352" y="3794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90011"/>
                </a:solidFill>
              </a:rPr>
              <a:t>Mail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45352" y="4069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9A84C"/>
                </a:solidFill>
              </a:rPr>
              <a:t>Para fichas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45352" y="43708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</a:rPr>
              <a:t>Comparables y actualizaciones de precio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256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00" dirty="0">
                <a:solidFill>
                  <a:srgbClr val="990011"/>
                </a:solidFill>
              </a:rPr>
              <a:t>TÉCNICAS DE CIERRE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92608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Los 5 movimientos que funcionan.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92608" y="1325880"/>
            <a:ext cx="4206240" cy="1051560"/>
          </a:xfrm>
          <a:prstGeom prst="rect">
            <a:avLst/>
          </a:prstGeom>
          <a:solidFill>
            <a:srgbClr val="1A2640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39903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90011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78408" y="1417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9A84C"/>
                </a:solidFill>
              </a:rPr>
              <a:t>Alternativa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78408" y="1709928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</a:rPr>
              <a:t>"¿Escriturás en marzo o en abril?" — Nunca preguntes si quieren comprar.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2608" y="2478024"/>
            <a:ext cx="4206240" cy="1051560"/>
          </a:xfrm>
          <a:prstGeom prst="rect">
            <a:avLst/>
          </a:prstGeom>
          <a:solidFill>
            <a:srgbClr val="1A2640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255117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90011"/>
                </a:solidFill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78408" y="25694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9A84C"/>
                </a:solidFill>
              </a:rPr>
              <a:t>Urgencia real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78408" y="2862072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</a:rPr>
              <a:t>"Hay otra persona evaluando desde ayer." Sin mentir, con datos reales.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2608" y="3630168"/>
            <a:ext cx="4206240" cy="1051560"/>
          </a:xfrm>
          <a:prstGeom prst="rect">
            <a:avLst/>
          </a:prstGeom>
          <a:solidFill>
            <a:srgbClr val="1A2640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37033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90011"/>
                </a:solidFill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78408" y="37216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9A84C"/>
                </a:solidFill>
              </a:rPr>
              <a:t>Resumen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78408" y="4014216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</a:rPr>
              <a:t>Recapitulá los 3 beneficios clave y cerrá la boca. Quien habla primero, pierde.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36592" y="1325880"/>
            <a:ext cx="4206240" cy="1051560"/>
          </a:xfrm>
          <a:prstGeom prst="rect">
            <a:avLst/>
          </a:prstGeom>
          <a:solidFill>
            <a:srgbClr val="1A2640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3752" y="139903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90011"/>
                </a:solidFill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22392" y="1417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9A84C"/>
                </a:solidFill>
              </a:rPr>
              <a:t>Prueba social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22392" y="1709928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</a:rPr>
              <a:t>"Una familia en situación similar tomó la decisión la semana pasada."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36592" y="2478024"/>
            <a:ext cx="4206240" cy="1051560"/>
          </a:xfrm>
          <a:prstGeom prst="rect">
            <a:avLst/>
          </a:prstGeom>
          <a:solidFill>
            <a:srgbClr val="1A2640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255117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90011"/>
                </a:solidFill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22392" y="25694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9A84C"/>
                </a:solidFill>
              </a:rPr>
              <a:t>Silencio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22392" y="2862072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</a:rPr>
              <a:t>Hacé la pregunta de cierre. No agregues nada. El silencio es tu aliado.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256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00" dirty="0">
                <a:solidFill>
                  <a:srgbClr val="990011"/>
                </a:solidFill>
              </a:rPr>
              <a:t>NEGOCIACIÓN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92608" y="50292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C2B4A"/>
                </a:solidFill>
              </a:rPr>
              <a:t>Ceder menos,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1C2B4A"/>
                </a:solidFill>
              </a:rPr>
              <a:t>cerrar más.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577840" y="256032"/>
            <a:ext cx="3200400" cy="141732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15000" y="320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84C"/>
                </a:solidFill>
              </a:rPr>
              <a:t>Regla de oro: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715000" y="59436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La primera cifra que se dice en una negociación ancla todo lo que viene después. Nunca seas el primero en bajar.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" y="1828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990011"/>
                </a:solidFill>
              </a:rPr>
              <a:t>MANEJO DE OBJECIONES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92608" y="2121408"/>
            <a:ext cx="848563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194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90011"/>
                </a:solidFill>
              </a:rPr>
              <a:t>"Está caro"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68880" y="2194560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B4A"/>
                </a:solidFill>
              </a:rPr>
              <a:t>→  "¿Caro comparado con qué?" — Pedí la referencia antes de justificar.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2608" y="2962656"/>
            <a:ext cx="848563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0358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90011"/>
                </a:solidFill>
              </a:rPr>
              <a:t>"Lo pienso"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68880" y="3035808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B4A"/>
                </a:solidFill>
              </a:rPr>
              <a:t>→  "¿Qué es lo que te genera duda?" — Identificá el freno real.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2608" y="3803904"/>
            <a:ext cx="848563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87705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90011"/>
                </a:solidFill>
              </a:rPr>
              <a:t>"Tengo otra oferta"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468880" y="3877056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B4A"/>
                </a:solidFill>
              </a:rPr>
              <a:t>→  "Contame más, quiero entender qué están comparando."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2608" y="4617720"/>
            <a:ext cx="8485632" cy="384048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645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9A84C"/>
                </a:solidFill>
              </a:rPr>
              <a:t>⚡  ROLE-PLAY: Simulación de negociación con objeción real del grupo — 5 minutos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256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00" dirty="0">
                <a:solidFill>
                  <a:srgbClr val="990011"/>
                </a:solidFill>
              </a:rPr>
              <a:t>MARCA PERSONAL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92608" y="50292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El agente invisible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vs el agente referente.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92608" y="1737360"/>
            <a:ext cx="8485632" cy="4572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i="1" dirty="0">
                <a:solidFill>
                  <a:srgbClr val="FFFFFF"/>
                </a:solidFill>
              </a:rPr>
              <a:t>Si alguien busca tu nombre en Google ahora mismo, ¿qué encuentra?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92608" y="2359152"/>
            <a:ext cx="2743200" cy="2331720"/>
          </a:xfrm>
          <a:prstGeom prst="rect">
            <a:avLst/>
          </a:prstGeom>
          <a:solidFill>
            <a:srgbClr val="1A2640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90011"/>
                </a:solidFill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29992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9A84C"/>
                </a:solidFill>
              </a:rPr>
              <a:t>1 post semanal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364992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Contenido de valor de TU zona. Precio x m², novedades del barrio, comparables recientes. No fotos de propiedades — insights.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2359152"/>
            <a:ext cx="2743200" cy="2331720"/>
          </a:xfrm>
          <a:prstGeom prst="rect">
            <a:avLst/>
          </a:prstGeom>
          <a:solidFill>
            <a:srgbClr val="1A2640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90011"/>
                </a:solidFill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364992" y="29992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9A84C"/>
                </a:solidFill>
              </a:rPr>
              <a:t>Stories de proceso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64992" y="3364992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Mostrar una tasación, una visita, un cierre real. La gente compra al agente antes que a la propiedad.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08192" y="2359152"/>
            <a:ext cx="2743200" cy="2331720"/>
          </a:xfrm>
          <a:prstGeom prst="rect">
            <a:avLst/>
          </a:prstGeom>
          <a:solidFill>
            <a:srgbClr val="1A2640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72784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90011"/>
                </a:solidFill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272784" y="29992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9A84C"/>
                </a:solidFill>
              </a:rPr>
              <a:t>WhatsApp estratégico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72784" y="3364992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Lista de difusión segmentada por tipología e interés. No el mismo mensaje a todos. Valor, no spam.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2608" y="47731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C9A84C"/>
                </a:solidFill>
              </a:rPr>
              <a:t>Tu barrio es tu territorio. Conócelo mejor que nadie → El referente no busca clientes. Los clientes lo buscan a él.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256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00" dirty="0">
                <a:solidFill>
                  <a:srgbClr val="990011"/>
                </a:solidFill>
              </a:rPr>
              <a:t>PLAN DE ACCIÓN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92608" y="50292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Lo que hacés mañana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a las 9am.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292608" y="1874520"/>
            <a:ext cx="2743200" cy="25146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933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C9A84C"/>
                </a:solidFill>
              </a:rPr>
              <a:t>ACCIÓN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30428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Algo que ARRANCÁS esta semana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6680"/>
                </a:solidFill>
              </a:rPr>
              <a:t>________________________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2423160" cy="0"/>
          </a:xfrm>
          <a:prstGeom prst="line">
            <a:avLst/>
          </a:prstGeom>
          <a:noFill/>
          <a:ln w="12700">
            <a:solidFill>
              <a:srgbClr val="FF66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977640"/>
            <a:ext cx="2423160" cy="0"/>
          </a:xfrm>
          <a:prstGeom prst="line">
            <a:avLst/>
          </a:prstGeom>
          <a:noFill/>
          <a:ln w="12700">
            <a:solidFill>
              <a:srgbClr val="FF66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874520"/>
            <a:ext cx="2743200" cy="25146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19933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C9A84C"/>
                </a:solidFill>
              </a:rPr>
              <a:t>ACCIÓN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64992" y="230428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Algo que DEJÁS de hacer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64992" y="32461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6680"/>
                </a:solidFill>
              </a:rPr>
              <a:t>________________________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64992" y="3657600"/>
            <a:ext cx="2423160" cy="0"/>
          </a:xfrm>
          <a:prstGeom prst="line">
            <a:avLst/>
          </a:prstGeom>
          <a:noFill/>
          <a:ln w="12700">
            <a:solidFill>
              <a:srgbClr val="FF66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64992" y="3977640"/>
            <a:ext cx="2423160" cy="0"/>
          </a:xfrm>
          <a:prstGeom prst="line">
            <a:avLst/>
          </a:prstGeom>
          <a:noFill/>
          <a:ln w="12700">
            <a:solidFill>
              <a:srgbClr val="FF66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08192" y="1874520"/>
            <a:ext cx="2743200" cy="25146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2784" y="19933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C9A84C"/>
                </a:solidFill>
              </a:rPr>
              <a:t>ACCIÓN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72784" y="230428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Alguien a quien llamás mañana antes de las 10am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72784" y="32461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6680"/>
                </a:solidFill>
              </a:rPr>
              <a:t>________________________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72784" y="3657600"/>
            <a:ext cx="2423160" cy="0"/>
          </a:xfrm>
          <a:prstGeom prst="line">
            <a:avLst/>
          </a:prstGeom>
          <a:noFill/>
          <a:ln w="12700">
            <a:solidFill>
              <a:srgbClr val="FF66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2784" y="3977640"/>
            <a:ext cx="2423160" cy="0"/>
          </a:xfrm>
          <a:prstGeom prst="line">
            <a:avLst/>
          </a:prstGeom>
          <a:noFill/>
          <a:ln w="12700">
            <a:solidFill>
              <a:srgbClr val="FF66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2608" y="4572000"/>
            <a:ext cx="8485632" cy="411480"/>
          </a:xfrm>
          <a:prstGeom prst="rect">
            <a:avLst/>
          </a:prstGeom>
          <a:solidFill>
            <a:srgbClr val="1A2640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626864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Próximo checkpoint: ____________   |   El grupo es tu red de accountability.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67375" y="4402836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C9A84C"/>
                </a:solidFill>
              </a:rPr>
              <a:t>"El mercado premia a quien actúa. No a quien sabe."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1679</Words>
  <Application>Microsoft Office PowerPoint</Application>
  <PresentationFormat>Presentación en pantalla (16:9)</PresentationFormat>
  <Paragraphs>207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Capacitación RE/MAX Mendoza 2025</dc:title>
  <dc:subject>PptxGenJS Presentation</dc:subject>
  <dc:creator>PptxGenJS</dc:creator>
  <cp:lastModifiedBy>Juan</cp:lastModifiedBy>
  <cp:revision>7</cp:revision>
  <cp:lastPrinted>2026-06-01T11:51:49Z</cp:lastPrinted>
  <dcterms:created xsi:type="dcterms:W3CDTF">2026-05-16T21:47:07Z</dcterms:created>
  <dcterms:modified xsi:type="dcterms:W3CDTF">2026-06-01T21:24:52Z</dcterms:modified>
</cp:coreProperties>
</file>